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thuyết trình (Speaker Notes) - SLIDE 1:</a:t>
            </a:r>
          </a:p>
          <a:p>
            <a:r>
              <a:t>"Kính chào thầy cô trong Hội đồng đánh giá và các bạn sinh viên. Hôm nay nhóm chúng em xin phép trình bày đồ án kết thúc môn học Web Programming &amp; Applications. Đề tài của chúng em là 'Xây dựng ứng dụng quản lý ghi chú đa tầng Note Management'. Trong đó, nhóm chúng em tập trung giải quyết Chuyên đề Topic 10: Đóng gói ứng dụng bằng công nghệ Containerization và Điều phối dịch vụ bằng Orchestration thông qua hệ sinh thái Docker. Sau đây, chúng em xin đi vào chi tiết."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thuyết trình (Speaker Notes) - SLIDE 2:</a:t>
            </a:r>
          </a:p>
          <a:p>
            <a:r>
              <a:t>Trong quy trình phát triển phần mềm truyền thống, lập trình viên thường xuyên gặp lỗi xung đột môi trường. 'Chạy tốt trên máy của em nhưng lại lỗi trên máy của bạn' là câu nói kinh điển. Hơn nữa, với một ứng dụng ghi chú cao cấp đòi hỏi cả cơ sở dữ liệu PostgreSQL, cache Redis và server WebSocket, việc cài đặt thủ công từng dịch vụ trên máy cá nhân là cực kỳ phức tạp và dễ gây nghẽn hệ thống. Mục tiêu của chúng em là đóng gói toàn bộ ứng dụng này vào các Container độc lập, giúp việc triển khai trở nên tự động hoàn toàn, đồng bộ 100% trên mọi máy tính.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thuyết trình (Speaker Notes) - SLIDE 3:</a:t>
            </a:r>
          </a:p>
          <a:p>
            <a:r>
              <a:t>Hệ thống của chúng em được xây dựng trên Kiến trúc Đa tầng (Multi-tier Architecture) tiên tiến gồm 4 container chạy hoàn toàn tách biệt. Đầu tiên là container App đóng vai trò tiếp nhận yêu cầu từ người dùng qua cổng 8000. Dữ liệu ghi chú được lưu trữ bền vững tại container DB chạy PostgreSQL. Để tăng tốc độ phản hồi, chúng em có container Redis đóng vai trò lưu đệm session trên RAM. Và cuối cùng là container WebSocket Reverb chịu trách nhiệm duy trì kênh truyền thông hai chiều để đồng bộ ghi chú. Toàn bộ 4 dịch vụ này được đặt trong một mạng Bridge ảo khép kín gọi là 'note_network', đảm bảo tính an toàn và bảo mật cao nhất.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thuyết trình (Speaker Notes) - SLIDE 4:</a:t>
            </a:r>
          </a:p>
          <a:p>
            <a:r>
              <a:t>Để hiểu rõ ưu thế của Docker, hãy so sánh nó với máy ảo truyền thống VM. Nhìn vào sơ đồ kiến trúc, chúng ta thấy VM rất cồng kềnh vì mỗi máy ảo phải duy trì một hệ điều hành khách riêng, làm lãng phí hàng chục gigabyte ổ cứng và hàng gigabyte RAM. Docker giải quyết triệt để rào cản này bằng cách ảo hóa ở cấp độ hệ điều hành, chia sẻ chung nhân Kernel của máy thật. Nhờ vậy, container Docker có dung lượng siêu nhẹ, khởi động tức thì trong chớp mắt và đạt hiệu suất xử lý phần cứng tối ưu nhất.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thuyết trình (Speaker Notes) - SLIDE 5:</a:t>
            </a:r>
          </a:p>
          <a:p>
            <a:r>
              <a:t>Tầng ứng dụng sử dụng Laravel chạy trên nền PHP 8.2 và máy chủ Apache. Điểm nhấn công nghệ đặc biệt ở đây là chúng em đã biến ứng dụng này thành một Progressive Web App (PWA) thực thụ. Nhờ vào Service Worker chạy ngầm, toàn bộ giao diện tĩnh được lưu vào cache trình duyệt. Kết hợp với CSDL IndexedDB, người dùng vẫn có thể viết ghi chú bình thường khi mất mạng. Ngay khi thiết bị có kết nối mạng trở lại, PWA sẽ tự động đồng bộ hóa các bản nháp offline này lên máy chủ PostgreSQL, mang lại trải nghiệm vô cùng mượt mà.</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thuyết trình (Speaker Notes) - SLIDE 6:</a:t>
            </a:r>
          </a:p>
          <a:p>
            <a:r>
              <a:t>Về cơ sở dữ liệu, chúng em chọn PostgreSQL 15. So với MySQL, PostgreSQL mạnh mẽ hơn hẳn khi xử lý các câu truy vấn phức tạp và đặc biệt hỗ trợ lưu trữ định dạng JSONB. Ghi chú của người dùng thường có nhiều thuộc tính động như màu sắc, thẻ nhãn, tọa độ vẽ, vì vậy JSONB giúp chúng em lưu trữ linh hoạt mà không cần tạo quá nhiều bảng. Ngoài ra, để tránh nghẽn băng thông ổ đĩa, chúng em tích hợp Redis chạy hoàn toàn trên RAM để lưu thông tin phiên đăng nhập. Nhờ đó, tốc độ kiểm tra đăng nhập người dùng được giảm xuống dưới 1 mili-giây, giúp hệ thống hoạt động vô cùng nhẹ nhàng.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thuyết trình (Speaker Notes) - SLIDE 7:</a:t>
            </a:r>
          </a:p>
          <a:p>
            <a:r>
              <a:t>Tính năng nổi bật và mang tính thực tiễn cao nhất của dự án là khả năng cộng tác nhóm thời gian thực. Chúng em sử dụng máy chủ WebSocket Laravel Reverb thế hệ mới. Khi hai hay nhiều thành viên cùng mở chung một ghi chú được chia sẻ, bất kỳ ai gõ chữ hay đổi màu nền, thông tin sẽ được phát qua kênh socket và cập nhật lên màn hình của những người còn lại ngay lập tức mà không cần tải lại trang. Hệ thống cũng tích hợp cơ chế Auto-save tự động lưu ghi chú sau 1 giây ngắt nghỉ gõ chữ, loại bỏ hoàn toàn nút Lưu thực hiện thủ công phiền phức.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thuyết trình (Speaker Notes) - SLIDE 8:</a:t>
            </a:r>
          </a:p>
          <a:p>
            <a:r>
              <a:t>Để đóng gói ứng dụng Web, chúng em đã thiết kế tệp tin Dockerfile này. Chúng em sử dụng image gốc là PHP 8.2 Apache. Trong quá trình build Image, Dockerfile sẽ tự động cài các thư viện C++ cần thiết để biên dịch driver kết nối PostgreSQL và Redis. Kỹ thuật nâng cao ở đây là chúng em áp dụng Multi-stage build để kéo Composer từ image chính thức giúp giảm dung lượng. Đồng thời, Dockerfile cài đặt Node.js v20 để biên dịch giao diện Frontend bằng Vite trước khi đóng gói, trỏ DocumentRoot vào thư mục public nhằm bảo mật mã nguồn Laravel.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thuyết trình (Speaker Notes) - SLIDE 9:</a:t>
            </a:r>
          </a:p>
          <a:p>
            <a:r>
              <a:t>Tệp tin docker-compose.yml chính là nhạc trưởng điều phối toàn bộ hệ thống. Điểm đặc sắc ở đây là cơ chế Health Check. Thông thường các dịch vụ khởi chạy đồng thời, dẫn đến việc ứng dụng Web chạy trước CSDL PostgreSQL và gây ra lỗi mất kết nối. Chúng em đã giải quyết triệt để bằng cách thiết lập ràng buộc: App chỉ được phép khởi động khi Database và Redis đã vượt qua bài test sức khỏe định kỳ pg_isready và redis-cli ping. Dữ liệu ghi chú của người dùng cũng được bảo lưu vĩnh viễn nhờ phân vùng Volume độc lập.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thuyết trình (Speaker Notes) - SLIDE 10:</a:t>
            </a:r>
          </a:p>
          <a:p>
            <a:r>
              <a:t>Để tối ưu hóa trải nghiệm vận hành, chúng em viết thêm một bash script thông minh là docker-entrypoint.sh. Khi container Web bắt đầu chạy, script này sẽ thực hiện một loạt tác vụ tự động: tự động điều chỉnh cổng Apache thích ứng với môi trường Cloud, tự kiểm tra và cài đặt thư viện PHP còn thiếu, tự động chờ cơ sở dữ liệu sẵn sàng kết nối trong vòng 30 giây, tự động chạy migrate tạo bảng dữ liệu và nạp sẵn 2 tài khoản demo thử nghiệm mà không cần quản trị viên phải gõ bất kỳ câu lệnh thủ công nào.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thuyết trình (Speaker Notes) - SLIDE 11:</a:t>
            </a:r>
          </a:p>
          <a:p>
            <a:r>
              <a:t>Để minh chứng cho sự tiện lợi của công nghệ Container hóa, quy trình khởi chạy dự án của chúng em gói gọn trong 3 bước cực kỳ đơn giản. Đầu tiên, chúng em giải phóng các cổng dịch vụ trên máy thật. Tiếp theo, mở terminal chạy lệnh docker-compose up -d --build. Hệ thống tự động biên dịch và dựng lên toàn bộ 4 tầng dịch vụ. Cuối cùng, chúng em mở trình duyệt truy cập localhost:8000 để trải nghiệm ứng dụng. Ngay sau đây, chúng em xin phép trình diễn trực quan tính năng cộng tác thời gian thực và hoạt động offline PWA của ứng dụng.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thuyết trình (Speaker Notes) - SLIDE 12:</a:t>
            </a:r>
          </a:p>
          <a:p>
            <a:r>
              <a:t>Nhóm chúng em đã thực hiện đối chiếu thực nghiệm giữa Docker Stack và phần mềm XAMPP truyền thống. XAMPP mặc dù dễ cài đặt ban đầu, nhưng khi dự án phát triển lớn cần Redis hay PostgreSQL, việc cấu hình chúng trên Windows là một thách thức lớn và thường xuyên gây lỗi phiên bản PHP giữa các thành viên. Docker giải quyết triệt để tất cả các điểm yếu này: mở rộng dịch vụ chỉ bằng vài dòng code khai báo, bảo vệ máy chủ thật khỏi tệp tin rác và đảm bảo tính sạch sẽ tối đa cho hệ điều hành.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thuyết trình (Speaker Notes) - SLIDE 13:</a:t>
            </a:r>
          </a:p>
          <a:p>
            <a:r>
              <a:t>Thưa thầy cô, bên cạnh việc điều phối, khả năng quản trị cơ sở dữ liệu trực tiếp cũng là một phần cực kỳ quan trọng trong Topic 10. Thay vì phải cài đặt các công cụ giao diện nặng nề, quản trị viên có thể sử dụng sức mạnh dòng lệnh của Docker. Chỉ bằng một lệnh docker exec đơn giản, chúng ta có thể chui thẳng vào shell psql của container PostgreSQL. Tại đây, chúng ta thực hiện khảo sát các bảng dữ liệu bằng lệnh \dt, truy vấn dữ liệu thành viên bằng SELECT, sửa đổi ghi chú bằng UPDATE hoặc chạy các lệnh SQL một dòng tự động từ bên ngoài máy thật. Điều này thể hiện khả năng kiểm soát hệ thống toàn diện và chuyên nghiệp.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thuyết trình (Speaker Notes) - SLIDE 14:</a:t>
            </a:r>
          </a:p>
          <a:p>
            <a:r>
              <a:t>Cuối cùng, để đảm bảo tính chính xác và vững chắc về mặt học thuật cho đề tài giữa kỳ, nhóm chúng em đã nghiêm túc nghiên cứu và trích dẫn các tài liệu khoa học uy tín đạt chuẩn quốc tế IEEE. Từ các công trình nghiên cứu nền tảng về container của Merkel, các đặc tả RFC của giao thức truyền thông WebSocket, cho đến các nghiên cứu so sánh thực nghiệm hiệu năng database trên tạp chí IEEE Latin America Transactions năm 2020. Chúng em xin chân thành cảm ơn thầy cô Hội đồng và các bạn đã chú ý lắng nghe bài thuyết trình của nhóm!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C38"/>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latin typeface="Arial"/>
              </a:defRPr>
            </a:pPr>
            <a:r>
              <a:t>NOTE MANAGEMENT APPLICATION</a:t>
            </a:r>
          </a:p>
        </p:txBody>
      </p:sp>
      <p:sp>
        <p:nvSpPr>
          <p:cNvPr id="3" name="Subtitle 2"/>
          <p:cNvSpPr>
            <a:spLocks noGrp="1"/>
          </p:cNvSpPr>
          <p:nvPr>
            <p:ph type="subTitle" idx="1"/>
          </p:nvPr>
        </p:nvSpPr>
        <p:spPr/>
        <p:txBody>
          <a:bodyPr/>
          <a:lstStyle/>
          <a:p>
            <a:pPr>
              <a:defRPr sz="2000">
                <a:solidFill>
                  <a:srgbClr val="ADB5BD"/>
                </a:solidFill>
                <a:latin typeface="Arial"/>
              </a:defRPr>
            </a:pPr>
            <a:r>
              <a:t>Chuyên đề Topic 10: Containerization &amp; Orchestration (Docker)</a:t>
            </a:r>
          </a:p>
          <a:p/>
          <a:p>
            <a:r>
              <a:t>Hướng dẫn: TS. Lê Văn Vang</a:t>
            </a:r>
          </a:p>
          <a:p>
            <a:r>
              <a:t>Nhóm thực hiện: Nhóm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A"/>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0066CC"/>
                </a:solidFill>
                <a:latin typeface="Arial"/>
              </a:defRPr>
            </a:pPr>
            <a:r>
              <a:t>🔎 ĐẶT VẤN ĐỀ &amp; MỤC TIÊU DỰ ÁN</a:t>
            </a:r>
          </a:p>
        </p:txBody>
      </p:sp>
      <p:sp>
        <p:nvSpPr>
          <p:cNvPr id="3" name="Content Placeholder 2"/>
          <p:cNvSpPr>
            <a:spLocks noGrp="1"/>
          </p:cNvSpPr>
          <p:nvPr>
            <p:ph idx="1"/>
          </p:nvPr>
        </p:nvSpPr>
        <p:spPr/>
        <p:txBody>
          <a:bodyPr/>
          <a:lstStyle/>
          <a:p/>
          <a:p>
            <a:pPr>
              <a:spcAft>
                <a:spcPts val="800"/>
              </a:spcAft>
              <a:defRPr b="1" sz="1800">
                <a:solidFill>
                  <a:srgbClr val="212529"/>
                </a:solidFill>
                <a:latin typeface="Arial"/>
              </a:defRPr>
            </a:pPr>
            <a:r>
              <a:t>Thực trạng phát triển ứng dụng phức tạp:</a:t>
            </a:r>
          </a:p>
          <a:p>
            <a:pPr lvl="1">
              <a:spcAft>
                <a:spcPts val="800"/>
              </a:spcAft>
              <a:defRPr sz="1600">
                <a:solidFill>
                  <a:srgbClr val="212529"/>
                </a:solidFill>
                <a:latin typeface="Arial"/>
              </a:defRPr>
            </a:pPr>
            <a:r>
              <a:t>   • Lỗi xung đột môi trường phát triển (khác phiên bản PHP, Apache, Node.js giữa các thành viên).</a:t>
            </a:r>
          </a:p>
          <a:p>
            <a:pPr lvl="1">
              <a:spcAft>
                <a:spcPts val="800"/>
              </a:spcAft>
              <a:defRPr sz="1600">
                <a:solidFill>
                  <a:srgbClr val="212529"/>
                </a:solidFill>
                <a:latin typeface="Arial"/>
              </a:defRPr>
            </a:pPr>
            <a:r>
              <a:t>   • Khó khăn tích hợp các dịch vụ nâng cao (PostgreSQL, Redis cache, WebSocket server).</a:t>
            </a:r>
          </a:p>
          <a:p>
            <a:pPr lvl="1">
              <a:spcAft>
                <a:spcPts val="800"/>
              </a:spcAft>
              <a:defRPr sz="1600">
                <a:solidFill>
                  <a:srgbClr val="212529"/>
                </a:solidFill>
                <a:latin typeface="Arial"/>
              </a:defRPr>
            </a:pPr>
            <a:r>
              <a:t>   • Mất nhiều thời gian để cấu hình cổng, tài khoản cơ sở dữ liệu và phân quyền thủ công.</a:t>
            </a:r>
          </a:p>
          <a:p>
            <a:pPr>
              <a:spcAft>
                <a:spcPts val="800"/>
              </a:spcAft>
              <a:defRPr b="1" sz="1800">
                <a:solidFill>
                  <a:srgbClr val="212529"/>
                </a:solidFill>
                <a:latin typeface="Arial"/>
              </a:defRPr>
            </a:pPr>
            <a:r>
              <a:t>Mục tiêu cốt lõi của dự án:</a:t>
            </a:r>
          </a:p>
          <a:p>
            <a:pPr lvl="1">
              <a:spcAft>
                <a:spcPts val="800"/>
              </a:spcAft>
              <a:defRPr sz="1600">
                <a:solidFill>
                  <a:srgbClr val="212529"/>
                </a:solidFill>
                <a:latin typeface="Arial"/>
              </a:defRPr>
            </a:pPr>
            <a:r>
              <a:t>   • Áp dụng Containerization đóng gói độc lập toàn bộ các dịch vụ hệ thống.</a:t>
            </a:r>
          </a:p>
          <a:p>
            <a:pPr lvl="1">
              <a:spcAft>
                <a:spcPts val="800"/>
              </a:spcAft>
              <a:defRPr sz="1600">
                <a:solidFill>
                  <a:srgbClr val="212529"/>
                </a:solidFill>
                <a:latin typeface="Arial"/>
              </a:defRPr>
            </a:pPr>
            <a:r>
              <a:t>   • Tối giản quy trình triển khai: Khởi chạy toàn bộ hệ thống bằng 1 dòng lệnh duy nhất.</a:t>
            </a:r>
          </a:p>
          <a:p>
            <a:pPr lvl="1">
              <a:spcAft>
                <a:spcPts val="800"/>
              </a:spcAft>
              <a:defRPr sz="1600">
                <a:solidFill>
                  <a:srgbClr val="212529"/>
                </a:solidFill>
                <a:latin typeface="Arial"/>
              </a:defRPr>
            </a:pPr>
            <a:r>
              <a:t>   • Đảm bảo tính nhất quán môi trường 100% từ máy lập trình viên cho đến cloud production.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A"/>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0066CC"/>
                </a:solidFill>
                <a:latin typeface="Arial"/>
              </a:defRPr>
            </a:pPr>
            <a:r>
              <a:t>🌐 TỔNG QUAN KIẾN TRÚC ĐA TẦNG (MULTI-TIER)</a:t>
            </a:r>
          </a:p>
        </p:txBody>
      </p:sp>
      <p:sp>
        <p:nvSpPr>
          <p:cNvPr id="3" name="Content Placeholder 2"/>
          <p:cNvSpPr>
            <a:spLocks noGrp="1"/>
          </p:cNvSpPr>
          <p:nvPr>
            <p:ph idx="1"/>
          </p:nvPr>
        </p:nvSpPr>
        <p:spPr/>
        <p:txBody>
          <a:bodyPr/>
          <a:lstStyle/>
          <a:p/>
          <a:p>
            <a:pPr>
              <a:spcAft>
                <a:spcPts val="800"/>
              </a:spcAft>
              <a:defRPr b="1" sz="1800">
                <a:solidFill>
                  <a:srgbClr val="0066CC"/>
                </a:solidFill>
                <a:latin typeface="Arial"/>
              </a:defRPr>
            </a:pPr>
            <a:r>
              <a:t>Kiến trúc phân rã 4 Tầng dịch vụ (4-Tier) độc lập hoàn toàn:</a:t>
            </a:r>
          </a:p>
          <a:p>
            <a:pPr lvl="1">
              <a:spcAft>
                <a:spcPts val="800"/>
              </a:spcAft>
              <a:defRPr sz="1600">
                <a:solidFill>
                  <a:srgbClr val="212529"/>
                </a:solidFill>
                <a:latin typeface="Arial"/>
              </a:defRPr>
            </a:pPr>
            <a:r>
              <a:t>   • Web Application (app): Chạy PHP 8.2 + Web Server Apache làm đầu ngõ xử lý HTTP requests (Port 8000).</a:t>
            </a:r>
          </a:p>
          <a:p>
            <a:pPr lvl="1">
              <a:spcAft>
                <a:spcPts val="800"/>
              </a:spcAft>
              <a:defRPr sz="1600">
                <a:solidFill>
                  <a:srgbClr val="212529"/>
                </a:solidFill>
                <a:latin typeface="Arial"/>
              </a:defRPr>
            </a:pPr>
            <a:r>
              <a:t>   • Database (db): Chạy PostgreSQL 15 Alpine lưu trữ dữ liệu quan hệ bền vững (Port 5433).</a:t>
            </a:r>
          </a:p>
          <a:p>
            <a:pPr lvl="1">
              <a:spcAft>
                <a:spcPts val="800"/>
              </a:spcAft>
              <a:defRPr sz="1600">
                <a:solidFill>
                  <a:srgbClr val="212529"/>
                </a:solidFill>
                <a:latin typeface="Arial"/>
              </a:defRPr>
            </a:pPr>
            <a:r>
              <a:t>   • Cache &amp; Session (redis): Chạy Redis Alpine lưu trữ bộ đệm RAM giảm tải cho DB (Port 6379).</a:t>
            </a:r>
          </a:p>
          <a:p>
            <a:pPr lvl="1">
              <a:spcAft>
                <a:spcPts val="800"/>
              </a:spcAft>
              <a:defRPr sz="1600">
                <a:solidFill>
                  <a:srgbClr val="212529"/>
                </a:solidFill>
                <a:latin typeface="Arial"/>
              </a:defRPr>
            </a:pPr>
            <a:r>
              <a:t>   • WebSocket Server (websocket): Chạy Laravel Reverb xử lý truyền thông hai chiều thời gian thực (Port 8080).</a:t>
            </a:r>
          </a:p>
          <a:p>
            <a:pPr>
              <a:spcAft>
                <a:spcPts val="800"/>
              </a:spcAft>
              <a:defRPr b="1" sz="1800">
                <a:solidFill>
                  <a:srgbClr val="0066CC"/>
                </a:solidFill>
                <a:latin typeface="Arial"/>
              </a:defRPr>
            </a:pPr>
            <a:r>
              <a:t>Mạng nội bộ cô lập (Docker Bridge Network):</a:t>
            </a:r>
          </a:p>
          <a:p>
            <a:pPr lvl="1">
              <a:spcAft>
                <a:spcPts val="800"/>
              </a:spcAft>
              <a:defRPr sz="1600">
                <a:solidFill>
                  <a:srgbClr val="212529"/>
                </a:solidFill>
                <a:latin typeface="Arial"/>
              </a:defRPr>
            </a:pPr>
            <a:r>
              <a:t>   • Khai báo mạng bridge ảo 'note_network' giúp các container tự động kết nối và phân giải DNS qua Service Name.</a:t>
            </a:r>
          </a:p>
          <a:p>
            <a:pPr lvl="1">
              <a:spcAft>
                <a:spcPts val="800"/>
              </a:spcAft>
              <a:defRPr sz="1600">
                <a:solidFill>
                  <a:srgbClr val="212529"/>
                </a:solidFill>
                <a:latin typeface="Arial"/>
              </a:defRPr>
            </a:pPr>
            <a:r>
              <a:t>   • Chặn đứng các kết nối tấn công trái phép từ bên ngoài chọc thẳng vào Database.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A"/>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0066CC"/>
                </a:solidFill>
                <a:latin typeface="Arial"/>
              </a:defRPr>
            </a:pPr>
            <a:r>
              <a:t>🐳 TẠI SAO CHỌN DOCKER CONTAINER? (DOCKER VS VM)</a:t>
            </a:r>
          </a:p>
        </p:txBody>
      </p:sp>
      <p:sp>
        <p:nvSpPr>
          <p:cNvPr id="3" name="Content Placeholder 2"/>
          <p:cNvSpPr>
            <a:spLocks noGrp="1"/>
          </p:cNvSpPr>
          <p:nvPr>
            <p:ph idx="1"/>
          </p:nvPr>
        </p:nvSpPr>
        <p:spPr/>
        <p:txBody>
          <a:bodyPr/>
          <a:lstStyle/>
          <a:p/>
          <a:p>
            <a:pPr>
              <a:spcAft>
                <a:spcPts val="800"/>
              </a:spcAft>
              <a:defRPr b="1" sz="1800">
                <a:solidFill>
                  <a:srgbClr val="212529"/>
                </a:solidFill>
                <a:latin typeface="Arial"/>
              </a:defRPr>
            </a:pPr>
            <a:r>
              <a:t>Máy ảo truyền thống (Virtual Machine - VM):</a:t>
            </a:r>
          </a:p>
          <a:p>
            <a:pPr lvl="1">
              <a:spcAft>
                <a:spcPts val="800"/>
              </a:spcAft>
              <a:defRPr sz="1600">
                <a:solidFill>
                  <a:srgbClr val="212529"/>
                </a:solidFill>
                <a:latin typeface="Arial"/>
              </a:defRPr>
            </a:pPr>
            <a:r>
              <a:t>   • Ảo hóa ở cấp độ phần cứng thông qua Hypervisor.</a:t>
            </a:r>
          </a:p>
          <a:p>
            <a:pPr lvl="1">
              <a:spcAft>
                <a:spcPts val="800"/>
              </a:spcAft>
              <a:defRPr sz="1600">
                <a:solidFill>
                  <a:srgbClr val="212529"/>
                </a:solidFill>
                <a:latin typeface="Arial"/>
              </a:defRPr>
            </a:pPr>
            <a:r>
              <a:t>   • Mỗi máy ảo bắt buộc phải cài đặt một hệ điều hành khách hoàn chỉnh (Guest OS) vô cùng nặng nề.</a:t>
            </a:r>
          </a:p>
          <a:p>
            <a:pPr lvl="1">
              <a:spcAft>
                <a:spcPts val="800"/>
              </a:spcAft>
              <a:defRPr sz="1600">
                <a:solidFill>
                  <a:srgbClr val="212529"/>
                </a:solidFill>
                <a:latin typeface="Arial"/>
              </a:defRPr>
            </a:pPr>
            <a:r>
              <a:t>   • Khởi động chậm (tính bằng phút), ngốn RAM, CPU và dung lượng ổ cứng (hàng chục GB).</a:t>
            </a:r>
          </a:p>
          <a:p>
            <a:pPr>
              <a:spcAft>
                <a:spcPts val="800"/>
              </a:spcAft>
              <a:defRPr b="1" sz="1800">
                <a:solidFill>
                  <a:srgbClr val="212529"/>
                </a:solidFill>
                <a:latin typeface="Arial"/>
              </a:defRPr>
            </a:pPr>
            <a:r>
              <a:t>Docker Container (Ảo hóa cấp độ Hệ điều hành):</a:t>
            </a:r>
          </a:p>
          <a:p>
            <a:pPr lvl="1">
              <a:spcAft>
                <a:spcPts val="800"/>
              </a:spcAft>
              <a:defRPr sz="1600">
                <a:solidFill>
                  <a:srgbClr val="212529"/>
                </a:solidFill>
                <a:latin typeface="Arial"/>
              </a:defRPr>
            </a:pPr>
            <a:r>
              <a:t>   • Loại bỏ lớp Guest OS khách, chia sẻ trực tiếp nhân Kernel của Host OS.</a:t>
            </a:r>
          </a:p>
          <a:p>
            <a:pPr lvl="1">
              <a:spcAft>
                <a:spcPts val="800"/>
              </a:spcAft>
              <a:defRPr sz="1600">
                <a:solidFill>
                  <a:srgbClr val="212529"/>
                </a:solidFill>
                <a:latin typeface="Arial"/>
              </a:defRPr>
            </a:pPr>
            <a:r>
              <a:t>   • Kích thước siêu nhẹ (vài chục MB đến vài trăm MB), khởi động tức thì trong vài mili-giây.</a:t>
            </a:r>
          </a:p>
          <a:p>
            <a:pPr lvl="1">
              <a:spcAft>
                <a:spcPts val="800"/>
              </a:spcAft>
              <a:defRPr sz="1600">
                <a:solidFill>
                  <a:srgbClr val="212529"/>
                </a:solidFill>
                <a:latin typeface="Arial"/>
              </a:defRPr>
            </a:pPr>
            <a:r>
              <a:t>   • Đạt hiệu năng chạy ứng dụng gần như nguyên bản (Native Performance) do không hao phí tài nguyên ảo hóa.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A"/>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0066CC"/>
                </a:solidFill>
                <a:latin typeface="Arial"/>
              </a:defRPr>
            </a:pPr>
            <a:r>
              <a:t>🎨 TẦNG ỨNG DỤNG &amp; THIẾT KẾ PWA OFFLINE-FIRST</a:t>
            </a:r>
          </a:p>
        </p:txBody>
      </p:sp>
      <p:sp>
        <p:nvSpPr>
          <p:cNvPr id="3" name="Content Placeholder 2"/>
          <p:cNvSpPr>
            <a:spLocks noGrp="1"/>
          </p:cNvSpPr>
          <p:nvPr>
            <p:ph idx="1"/>
          </p:nvPr>
        </p:nvSpPr>
        <p:spPr/>
        <p:txBody>
          <a:bodyPr/>
          <a:lstStyle/>
          <a:p/>
          <a:p>
            <a:pPr>
              <a:spcAft>
                <a:spcPts val="800"/>
              </a:spcAft>
              <a:defRPr b="1" sz="1800">
                <a:solidFill>
                  <a:srgbClr val="0066CC"/>
                </a:solidFill>
                <a:latin typeface="Arial"/>
              </a:defRPr>
            </a:pPr>
            <a:r>
              <a:t>Nền tảng Tầng Ứng Dụng (App Tier):</a:t>
            </a:r>
          </a:p>
          <a:p>
            <a:pPr lvl="1">
              <a:spcAft>
                <a:spcPts val="800"/>
              </a:spcAft>
              <a:defRPr sz="1600">
                <a:solidFill>
                  <a:srgbClr val="212529"/>
                </a:solidFill>
                <a:latin typeface="Arial"/>
              </a:defRPr>
            </a:pPr>
            <a:r>
              <a:t>   • Sử dụng PHP 8.2 kết hợp web server Apache (mpm_prefork) mang lại độ ổn định tối đa.</a:t>
            </a:r>
          </a:p>
          <a:p>
            <a:pPr lvl="1">
              <a:spcAft>
                <a:spcPts val="800"/>
              </a:spcAft>
              <a:defRPr sz="1600">
                <a:solidFill>
                  <a:srgbClr val="212529"/>
                </a:solidFill>
                <a:latin typeface="Arial"/>
              </a:defRPr>
            </a:pPr>
            <a:r>
              <a:t>   • Framework Laravel xử lý toàn bộ logic API nghiệp vụ, phân quyền và kết xuất giao diện.</a:t>
            </a:r>
          </a:p>
          <a:p>
            <a:pPr>
              <a:spcAft>
                <a:spcPts val="800"/>
              </a:spcAft>
              <a:defRPr b="1" sz="1800">
                <a:solidFill>
                  <a:srgbClr val="0066CC"/>
                </a:solidFill>
                <a:latin typeface="Arial"/>
              </a:defRPr>
            </a:pPr>
            <a:r>
              <a:t>Tính năng Progressive Web App (PWA) đột phá:</a:t>
            </a:r>
          </a:p>
          <a:p>
            <a:pPr lvl="1">
              <a:spcAft>
                <a:spcPts val="800"/>
              </a:spcAft>
              <a:defRPr sz="1600">
                <a:solidFill>
                  <a:srgbClr val="212529"/>
                </a:solidFill>
                <a:latin typeface="Arial"/>
              </a:defRPr>
            </a:pPr>
            <a:r>
              <a:t>   • Cho phép người dùng 'Cài đặt ứng dụng' trực tiếp lên màn hình điện thoại di động không qua App Store.</a:t>
            </a:r>
          </a:p>
          <a:p>
            <a:pPr lvl="1">
              <a:spcAft>
                <a:spcPts val="800"/>
              </a:spcAft>
              <a:defRPr sz="1600">
                <a:solidFill>
                  <a:srgbClr val="212529"/>
                </a:solidFill>
                <a:latin typeface="Arial"/>
              </a:defRPr>
            </a:pPr>
            <a:r>
              <a:t>   • Service Worker (sw.js): Chạy ngầm trong trình duyệt, tự động cache tài nguyên tĩnh giúp app tải cực nhanh.</a:t>
            </a:r>
          </a:p>
          <a:p>
            <a:pPr lvl="1">
              <a:spcAft>
                <a:spcPts val="800"/>
              </a:spcAft>
              <a:defRPr sz="1600">
                <a:solidFill>
                  <a:srgbClr val="212529"/>
                </a:solidFill>
                <a:latin typeface="Arial"/>
              </a:defRPr>
            </a:pPr>
            <a:r>
              <a:t>   • IndexedDB Client Storage: Cơ sở dữ liệu NoSQL trong trình duyệt giúp ghi chú bình thường khi mất mạng.</a:t>
            </a:r>
          </a:p>
          <a:p>
            <a:pPr lvl="1">
              <a:spcAft>
                <a:spcPts val="800"/>
              </a:spcAft>
              <a:defRPr sz="1600">
                <a:solidFill>
                  <a:srgbClr val="212529"/>
                </a:solidFill>
                <a:latin typeface="Arial"/>
              </a:defRPr>
            </a:pPr>
            <a:r>
              <a:t>   • Cơ chế Offline-first: Tự động đồng bộ hóa ghi chú nháp lên server ngay khi thiết bị kết nối mạng trở lại.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A"/>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0066CC"/>
                </a:solidFill>
                <a:latin typeface="Arial"/>
              </a:defRPr>
            </a:pPr>
            <a:r>
              <a:t>🗄️ TẦNG CƠ SỞ DỮ LIỆU &amp; BỘ ĐỆM CACHE REDIS</a:t>
            </a:r>
          </a:p>
        </p:txBody>
      </p:sp>
      <p:sp>
        <p:nvSpPr>
          <p:cNvPr id="3" name="Content Placeholder 2"/>
          <p:cNvSpPr>
            <a:spLocks noGrp="1"/>
          </p:cNvSpPr>
          <p:nvPr>
            <p:ph idx="1"/>
          </p:nvPr>
        </p:nvSpPr>
        <p:spPr/>
        <p:txBody>
          <a:bodyPr/>
          <a:lstStyle/>
          <a:p/>
          <a:p>
            <a:pPr>
              <a:spcAft>
                <a:spcPts val="800"/>
              </a:spcAft>
              <a:defRPr b="1" sz="1800">
                <a:solidFill>
                  <a:srgbClr val="212529"/>
                </a:solidFill>
                <a:latin typeface="Arial"/>
              </a:defRPr>
            </a:pPr>
            <a:r>
              <a:t>Tầng cơ sở dữ liệu (PostgreSQL 15 Alpine):</a:t>
            </a:r>
          </a:p>
          <a:p>
            <a:pPr lvl="1">
              <a:spcAft>
                <a:spcPts val="800"/>
              </a:spcAft>
              <a:defRPr sz="1600">
                <a:solidFill>
                  <a:srgbClr val="212529"/>
                </a:solidFill>
                <a:latin typeface="Arial"/>
              </a:defRPr>
            </a:pPr>
            <a:r>
              <a:t>   • PostgreSQL là chuẩn CSDL microservices cao cấp, xử lý đồng thời (concurrency) vượt trội hơn MySQL.</a:t>
            </a:r>
          </a:p>
          <a:p>
            <a:pPr lvl="1">
              <a:spcAft>
                <a:spcPts val="800"/>
              </a:spcAft>
              <a:defRPr sz="1600">
                <a:solidFill>
                  <a:srgbClr val="212529"/>
                </a:solidFill>
                <a:latin typeface="Arial"/>
              </a:defRPr>
            </a:pPr>
            <a:r>
              <a:t>   • Hỗ trợ kiểu dữ liệu JSONB cực mạnh: Lưu trữ thuộc tính động của ghi chú (màu sắc, nhãn, tọa độ vẽ) linh hoạt.</a:t>
            </a:r>
          </a:p>
          <a:p>
            <a:pPr lvl="1">
              <a:spcAft>
                <a:spcPts val="800"/>
              </a:spcAft>
              <a:defRPr sz="1600">
                <a:solidFill>
                  <a:srgbClr val="212529"/>
                </a:solidFill>
                <a:latin typeface="Arial"/>
              </a:defRPr>
            </a:pPr>
            <a:r>
              <a:t>   • Đảm bảo tính toàn vẹn dữ liệu và an toàn giao dịch đạt chuẩn nghiêm ngặt ACID.</a:t>
            </a:r>
          </a:p>
          <a:p>
            <a:pPr>
              <a:spcAft>
                <a:spcPts val="800"/>
              </a:spcAft>
              <a:defRPr b="1" sz="1800">
                <a:solidFill>
                  <a:srgbClr val="212529"/>
                </a:solidFill>
                <a:latin typeface="Arial"/>
              </a:defRPr>
            </a:pPr>
            <a:r>
              <a:t>Tầng lưu đệm RAM (Redis Alpine):</a:t>
            </a:r>
          </a:p>
          <a:p>
            <a:pPr lvl="1">
              <a:spcAft>
                <a:spcPts val="800"/>
              </a:spcAft>
              <a:defRPr sz="1600">
                <a:solidFill>
                  <a:srgbClr val="212529"/>
                </a:solidFill>
                <a:latin typeface="Arial"/>
              </a:defRPr>
            </a:pPr>
            <a:r>
              <a:t>   • Sử dụng Redis lưu trữ toàn bộ sessions đăng nhập và bộ đệm truy vấn trực tiếp trên RAM.</a:t>
            </a:r>
          </a:p>
          <a:p>
            <a:pPr lvl="1">
              <a:spcAft>
                <a:spcPts val="800"/>
              </a:spcAft>
              <a:defRPr sz="1600">
                <a:solidFill>
                  <a:srgbClr val="212529"/>
                </a:solidFill>
                <a:latin typeface="Arial"/>
              </a:defRPr>
            </a:pPr>
            <a:r>
              <a:t>   • Giải quyết triệt để hiện tượng nghẽn cổ chai ổ đĩa cứng (I/O Bottleneck) của PostgreSQL.</a:t>
            </a:r>
          </a:p>
          <a:p>
            <a:pPr lvl="1">
              <a:spcAft>
                <a:spcPts val="800"/>
              </a:spcAft>
              <a:defRPr sz="1600">
                <a:solidFill>
                  <a:srgbClr val="212529"/>
                </a:solidFill>
                <a:latin typeface="Arial"/>
              </a:defRPr>
            </a:pPr>
            <a:r>
              <a:t>   • Tốc độ phản hồi kiểm tra đăng nhập người dùng giảm xuống dưới 1 mili-giây.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A"/>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0066CC"/>
                </a:solidFill>
                <a:latin typeface="Arial"/>
              </a:defRPr>
            </a:pPr>
            <a:r>
              <a:t>⚡ WEBSOCKET REAL-TIME &amp; CỘNG TÁC THỜI GIAN THỰC</a:t>
            </a:r>
          </a:p>
        </p:txBody>
      </p:sp>
      <p:sp>
        <p:nvSpPr>
          <p:cNvPr id="3" name="Content Placeholder 2"/>
          <p:cNvSpPr>
            <a:spLocks noGrp="1"/>
          </p:cNvSpPr>
          <p:nvPr>
            <p:ph idx="1"/>
          </p:nvPr>
        </p:nvSpPr>
        <p:spPr/>
        <p:txBody>
          <a:bodyPr/>
          <a:lstStyle/>
          <a:p/>
          <a:p>
            <a:pPr>
              <a:spcAft>
                <a:spcPts val="800"/>
              </a:spcAft>
              <a:defRPr b="1" sz="1800">
                <a:solidFill>
                  <a:srgbClr val="212529"/>
                </a:solidFill>
                <a:latin typeface="Arial"/>
              </a:defRPr>
            </a:pPr>
            <a:r>
              <a:t>Máy chủ Laravel Reverb WebSocket Server:</a:t>
            </a:r>
          </a:p>
          <a:p>
            <a:pPr lvl="1">
              <a:spcAft>
                <a:spcPts val="800"/>
              </a:spcAft>
              <a:defRPr sz="1600">
                <a:solidFill>
                  <a:srgbClr val="212529"/>
                </a:solidFill>
                <a:latin typeface="Arial"/>
              </a:defRPr>
            </a:pPr>
            <a:r>
              <a:t>   • Thiết lập kết nối socket hai chiều (Full-duplex connection) liên tục giữa client và server.</a:t>
            </a:r>
          </a:p>
          <a:p>
            <a:pPr lvl="1">
              <a:spcAft>
                <a:spcPts val="800"/>
              </a:spcAft>
              <a:defRPr sz="1600">
                <a:solidFill>
                  <a:srgbClr val="212529"/>
                </a:solidFill>
                <a:latin typeface="Arial"/>
              </a:defRPr>
            </a:pPr>
            <a:r>
              <a:t>   • Thay thế cơ chế kéo dữ liệu truyền thống (Polling) gây lãng phí băng thông và cạn kiệt CPU.</a:t>
            </a:r>
          </a:p>
          <a:p>
            <a:pPr>
              <a:spcAft>
                <a:spcPts val="800"/>
              </a:spcAft>
              <a:defRPr b="1" sz="1800">
                <a:solidFill>
                  <a:srgbClr val="212529"/>
                </a:solidFill>
                <a:latin typeface="Arial"/>
              </a:defRPr>
            </a:pPr>
            <a:r>
              <a:t>Tính năng Cộng tác thời gian thực (Real-time Collaboration):</a:t>
            </a:r>
          </a:p>
          <a:p>
            <a:pPr lvl="1">
              <a:spcAft>
                <a:spcPts val="800"/>
              </a:spcAft>
              <a:defRPr sz="1600">
                <a:solidFill>
                  <a:srgbClr val="212529"/>
                </a:solidFill>
                <a:latin typeface="Arial"/>
              </a:defRPr>
            </a:pPr>
            <a:r>
              <a:t>   • Đồng bộ nội dung ghi chú ngay lập tức trên màn hình của tất cả các cộng tác viên khi có người chỉnh sửa.</a:t>
            </a:r>
          </a:p>
          <a:p>
            <a:pPr lvl="1">
              <a:spcAft>
                <a:spcPts val="800"/>
              </a:spcAft>
              <a:defRPr sz="1600">
                <a:solidFill>
                  <a:srgbClr val="212529"/>
                </a:solidFill>
                <a:latin typeface="Arial"/>
              </a:defRPr>
            </a:pPr>
            <a:r>
              <a:t>   • Hỗ trợ cập nhật màu sắc, gắn nhãn, xóa ghi chú real-time cực kỳ mượt mà.</a:t>
            </a:r>
          </a:p>
          <a:p>
            <a:pPr>
              <a:spcAft>
                <a:spcPts val="800"/>
              </a:spcAft>
              <a:defRPr b="1" sz="1800">
                <a:solidFill>
                  <a:srgbClr val="212529"/>
                </a:solidFill>
                <a:latin typeface="Arial"/>
              </a:defRPr>
            </a:pPr>
            <a:r>
              <a:t>Tính năng Tự động lưu ngầm (Auto-save):</a:t>
            </a:r>
          </a:p>
          <a:p>
            <a:pPr lvl="1">
              <a:spcAft>
                <a:spcPts val="800"/>
              </a:spcAft>
              <a:defRPr sz="1600">
                <a:solidFill>
                  <a:srgbClr val="212529"/>
                </a:solidFill>
                <a:latin typeface="Arial"/>
              </a:defRPr>
            </a:pPr>
            <a:r>
              <a:t>   • Áp dụng kỹ thuật Debounce 1 giây: Tự động lưu dữ liệu xuống DB ngay khi dừng gõ chữ 1s.</a:t>
            </a:r>
          </a:p>
          <a:p>
            <a:pPr lvl="1">
              <a:spcAft>
                <a:spcPts val="800"/>
              </a:spcAft>
              <a:defRPr sz="1600">
                <a:solidFill>
                  <a:srgbClr val="212529"/>
                </a:solidFill>
                <a:latin typeface="Arial"/>
              </a:defRPr>
            </a:pPr>
            <a:r>
              <a:t>   • Loại bỏ hoàn toàn nút 'Lưu ghi chú' thủ công, tối ưu hóa trải nghiệm người dùng.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A"/>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0066CC"/>
                </a:solidFill>
                <a:latin typeface="Arial"/>
              </a:defRPr>
            </a:pPr>
            <a:r>
              <a:t>📄 PHÂN TÍCH TỆP CẤU HÌNH DOCKERFILE CỦA WEB APP</a:t>
            </a:r>
          </a:p>
        </p:txBody>
      </p:sp>
      <p:sp>
        <p:nvSpPr>
          <p:cNvPr id="3" name="Content Placeholder 2"/>
          <p:cNvSpPr>
            <a:spLocks noGrp="1"/>
          </p:cNvSpPr>
          <p:nvPr>
            <p:ph idx="1"/>
          </p:nvPr>
        </p:nvSpPr>
        <p:spPr/>
        <p:txBody>
          <a:bodyPr/>
          <a:lstStyle/>
          <a:p/>
          <a:p>
            <a:pPr>
              <a:spcAft>
                <a:spcPts val="800"/>
              </a:spcAft>
              <a:defRPr b="1" sz="1800">
                <a:solidFill>
                  <a:srgbClr val="0066CC"/>
                </a:solidFill>
                <a:latin typeface="Arial"/>
              </a:defRPr>
            </a:pPr>
            <a:r>
              <a:t>Cơ chế hoạt động của Dockerfile định nghĩa môi trường chạy web app:</a:t>
            </a:r>
          </a:p>
          <a:p>
            <a:pPr lvl="1">
              <a:spcAft>
                <a:spcPts val="800"/>
              </a:spcAft>
              <a:defRPr sz="1600">
                <a:solidFill>
                  <a:srgbClr val="212529"/>
                </a:solidFill>
                <a:latin typeface="Arial"/>
              </a:defRPr>
            </a:pPr>
            <a:r>
              <a:t>   • Base Image: Khởi đầu từ php:8.2-apache chính thức tích hợp sẵn Apache và PHP 8.2.</a:t>
            </a:r>
          </a:p>
          <a:p>
            <a:pPr lvl="1">
              <a:spcAft>
                <a:spcPts val="800"/>
              </a:spcAft>
              <a:defRPr sz="1600">
                <a:solidFill>
                  <a:srgbClr val="212529"/>
                </a:solidFill>
                <a:latin typeface="Arial"/>
              </a:defRPr>
            </a:pPr>
            <a:r>
              <a:t>   • Cài đặt Driver hệ thống: Cập nhật apt và tự biên dịch pdo_pgsql, pgsql, gd, zip và redis extensions.</a:t>
            </a:r>
          </a:p>
          <a:p>
            <a:pPr lvl="1">
              <a:spcAft>
                <a:spcPts val="800"/>
              </a:spcAft>
              <a:defRPr sz="1600">
                <a:solidFill>
                  <a:srgbClr val="212529"/>
                </a:solidFill>
                <a:latin typeface="Arial"/>
              </a:defRPr>
            </a:pPr>
            <a:r>
              <a:t>   • Áp dụng kỹ thuật Multi-stage build: Kéo tệp thực thi composer trực tiếp từ image chính thức giúp giảm dung lượng.</a:t>
            </a:r>
          </a:p>
          <a:p>
            <a:pPr lvl="1">
              <a:spcAft>
                <a:spcPts val="800"/>
              </a:spcAft>
              <a:defRPr sz="1600">
                <a:solidFill>
                  <a:srgbClr val="212529"/>
                </a:solidFill>
                <a:latin typeface="Arial"/>
              </a:defRPr>
            </a:pPr>
            <a:r>
              <a:t>   • Tích hợp Vite và Node.js v20: Tự động tải NPM packages và chạy biên dịch assets (npm run build) ngay khi build.</a:t>
            </a:r>
          </a:p>
          <a:p>
            <a:pPr lvl="1">
              <a:spcAft>
                <a:spcPts val="800"/>
              </a:spcAft>
              <a:defRPr sz="1600">
                <a:solidFill>
                  <a:srgbClr val="212529"/>
                </a:solidFill>
                <a:latin typeface="Arial"/>
              </a:defRPr>
            </a:pPr>
            <a:r>
              <a:t>   • Cấu hình Apache VirtualHost bảo mật: Trỏ DocumentRoot vào thư mục public/ của Laravel để giấu file mã nguồn.</a:t>
            </a:r>
          </a:p>
          <a:p>
            <a:pPr lvl="1">
              <a:spcAft>
                <a:spcPts val="800"/>
              </a:spcAft>
              <a:defRPr sz="1600">
                <a:solidFill>
                  <a:srgbClr val="212529"/>
                </a:solidFill>
                <a:latin typeface="Arial"/>
              </a:defRPr>
            </a:pPr>
            <a:r>
              <a:t>   • Sửa lỗi tương thích hệ thống: Chuyển đổi định dạng ký tự xuống dòng kiểu Windows (CRLF) sang Linux (LF) cho script.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A"/>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0066CC"/>
                </a:solidFill>
                <a:latin typeface="Arial"/>
              </a:defRPr>
            </a:pPr>
            <a:r>
              <a:t>📄 PHÂN TÍCH FILE ĐIỀU PHỐI DOCKER-COMPOSE.YML</a:t>
            </a:r>
          </a:p>
        </p:txBody>
      </p:sp>
      <p:sp>
        <p:nvSpPr>
          <p:cNvPr id="3" name="Content Placeholder 2"/>
          <p:cNvSpPr>
            <a:spLocks noGrp="1"/>
          </p:cNvSpPr>
          <p:nvPr>
            <p:ph idx="1"/>
          </p:nvPr>
        </p:nvSpPr>
        <p:spPr/>
        <p:txBody>
          <a:bodyPr/>
          <a:lstStyle/>
          <a:p/>
          <a:p>
            <a:pPr>
              <a:spcAft>
                <a:spcPts val="800"/>
              </a:spcAft>
              <a:defRPr b="1" sz="1800">
                <a:solidFill>
                  <a:srgbClr val="212529"/>
                </a:solidFill>
                <a:latin typeface="Arial"/>
              </a:defRPr>
            </a:pPr>
            <a:r>
              <a:t>Vai trò 'Nhạc trưởng' điều phối toàn diện 4 Services:</a:t>
            </a:r>
          </a:p>
          <a:p>
            <a:pPr lvl="1">
              <a:spcAft>
                <a:spcPts val="800"/>
              </a:spcAft>
              <a:defRPr sz="1600">
                <a:solidFill>
                  <a:srgbClr val="212529"/>
                </a:solidFill>
                <a:latin typeface="Arial"/>
              </a:defRPr>
            </a:pPr>
            <a:r>
              <a:t>   • app Service: Ánh xạ cổng 8000:80, truyền các biến môi trường cấu hình kết nối DB, Redis và mail SMTP.</a:t>
            </a:r>
          </a:p>
          <a:p>
            <a:pPr lvl="1">
              <a:spcAft>
                <a:spcPts val="800"/>
              </a:spcAft>
              <a:defRPr sz="1600">
                <a:solidFill>
                  <a:srgbClr val="212529"/>
                </a:solidFill>
                <a:latin typeface="Arial"/>
              </a:defRPr>
            </a:pPr>
            <a:r>
              <a:t>   • db Service: Khởi chạy Postgres:15-alpine trên cổng 5433:5432, lưu trữ dữ liệu ra phân vùng ổ đĩa ảo độc lập.</a:t>
            </a:r>
          </a:p>
          <a:p>
            <a:pPr lvl="1">
              <a:spcAft>
                <a:spcPts val="800"/>
              </a:spcAft>
              <a:defRPr sz="1600">
                <a:solidFill>
                  <a:srgbClr val="212529"/>
                </a:solidFill>
                <a:latin typeface="Arial"/>
              </a:defRPr>
            </a:pPr>
            <a:r>
              <a:t>   • redis Service: Chạy redis:alpine lưu trữ session và RAM-cache trên cổng 6379:6379.</a:t>
            </a:r>
          </a:p>
          <a:p>
            <a:pPr lvl="1">
              <a:spcAft>
                <a:spcPts val="800"/>
              </a:spcAft>
              <a:defRPr sz="1600">
                <a:solidFill>
                  <a:srgbClr val="212529"/>
                </a:solidFill>
                <a:latin typeface="Arial"/>
              </a:defRPr>
            </a:pPr>
            <a:r>
              <a:t>   • websocket Service: Khởi động máy chủ Laravel Reverb trên cổng 8080:8080 để kết nối socket thời gian thực.</a:t>
            </a:r>
          </a:p>
          <a:p>
            <a:pPr>
              <a:spcAft>
                <a:spcPts val="800"/>
              </a:spcAft>
              <a:defRPr b="1" sz="1800">
                <a:solidFill>
                  <a:srgbClr val="212529"/>
                </a:solidFill>
                <a:latin typeface="Arial"/>
              </a:defRPr>
            </a:pPr>
            <a:r>
              <a:t>Cơ chế ràng buộc thông minh (Healthcheck Dependency):</a:t>
            </a:r>
          </a:p>
          <a:p>
            <a:pPr lvl="1">
              <a:spcAft>
                <a:spcPts val="800"/>
              </a:spcAft>
              <a:defRPr sz="1600">
                <a:solidFill>
                  <a:srgbClr val="212529"/>
                </a:solidFill>
                <a:latin typeface="Arial"/>
              </a:defRPr>
            </a:pPr>
            <a:r>
              <a:t>   • db được kiểm định bằng pg_isready; redis được kiểm định bằng redis-cli ping mỗi 5 giây.</a:t>
            </a:r>
          </a:p>
          <a:p>
            <a:pPr lvl="1">
              <a:spcAft>
                <a:spcPts val="800"/>
              </a:spcAft>
              <a:defRPr sz="1600">
                <a:solidFill>
                  <a:srgbClr val="212529"/>
                </a:solidFill>
                <a:latin typeface="Arial"/>
              </a:defRPr>
            </a:pPr>
            <a:r>
              <a:t>   • Container app chỉ khởi chạy khi db và redis đạt trạng thái Healthy hoàn toàn.</a:t>
            </a:r>
          </a:p>
          <a:p>
            <a:pPr lvl="1">
              <a:spcAft>
                <a:spcPts val="800"/>
              </a:spcAft>
              <a:defRPr sz="1600">
                <a:solidFill>
                  <a:srgbClr val="212529"/>
                </a:solidFill>
                <a:latin typeface="Arial"/>
              </a:defRPr>
            </a:pPr>
            <a:r>
              <a:t>   • Tránh triệt để lỗi Crash ứng dụng do mất kết nối CSDL khi khởi động đồng loạt.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A"/>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0066CC"/>
                </a:solidFill>
                <a:latin typeface="Arial"/>
              </a:defRPr>
            </a:pPr>
            <a:r>
              <a:t>⚙️ TỰ ĐỘNG HÓA VẬN HÀNH VỚI DOCKER-ENTRYPOINT.SH</a:t>
            </a:r>
          </a:p>
        </p:txBody>
      </p:sp>
      <p:sp>
        <p:nvSpPr>
          <p:cNvPr id="3" name="Content Placeholder 2"/>
          <p:cNvSpPr>
            <a:spLocks noGrp="1"/>
          </p:cNvSpPr>
          <p:nvPr>
            <p:ph idx="1"/>
          </p:nvPr>
        </p:nvSpPr>
        <p:spPr/>
        <p:txBody>
          <a:bodyPr/>
          <a:lstStyle/>
          <a:p/>
          <a:p>
            <a:pPr>
              <a:spcAft>
                <a:spcPts val="800"/>
              </a:spcAft>
              <a:defRPr b="1" sz="1800">
                <a:solidFill>
                  <a:srgbClr val="212529"/>
                </a:solidFill>
                <a:latin typeface="Arial"/>
              </a:defRPr>
            </a:pPr>
            <a:r>
              <a:t>Script Bash thông minh tự động hóa toàn bộ quá trình vận hành khi container Web khởi chạy:</a:t>
            </a:r>
          </a:p>
          <a:p>
            <a:pPr lvl="1">
              <a:spcAft>
                <a:spcPts val="800"/>
              </a:spcAft>
              <a:defRPr sz="1600">
                <a:solidFill>
                  <a:srgbClr val="212529"/>
                </a:solidFill>
                <a:latin typeface="Arial"/>
              </a:defRPr>
            </a:pPr>
            <a:r>
              <a:t>   • Tương thích cổng động Cloud: Tự động sửa tệp cấu hình Apache lắng nghe cổng $PORT cấp phát tự động từ Cloud.</a:t>
            </a:r>
          </a:p>
          <a:p>
            <a:pPr lvl="1">
              <a:spcAft>
                <a:spcPts val="800"/>
              </a:spcAft>
              <a:defRPr sz="1600">
                <a:solidFill>
                  <a:srgbClr val="212529"/>
                </a:solidFill>
                <a:latin typeface="Arial"/>
              </a:defRPr>
            </a:pPr>
            <a:r>
              <a:t>   • Khởi tạo biến môi trường: Tự tạo file .env từ .env.example và phát sinh mã khóa bảo mật app key:generate.</a:t>
            </a:r>
          </a:p>
          <a:p>
            <a:pPr lvl="1">
              <a:spcAft>
                <a:spcPts val="800"/>
              </a:spcAft>
              <a:defRPr sz="1600">
                <a:solidFill>
                  <a:srgbClr val="212529"/>
                </a:solidFill>
                <a:latin typeface="Arial"/>
              </a:defRPr>
            </a:pPr>
            <a:r>
              <a:t>   • Vòng lặp chờ đợi thông minh: Chạy thử kiểm tra kết nối DB tối đa 30 lần (30 giây) để đảm bảo Postgres đã sẵn sàng.</a:t>
            </a:r>
          </a:p>
          <a:p>
            <a:pPr lvl="1">
              <a:spcAft>
                <a:spcPts val="800"/>
              </a:spcAft>
              <a:defRPr sz="1600">
                <a:solidFill>
                  <a:srgbClr val="212529"/>
                </a:solidFill>
                <a:latin typeface="Arial"/>
              </a:defRPr>
            </a:pPr>
            <a:r>
              <a:t>   • Đồng bộ cơ sở dữ liệu: Tự động chạy migrate tạo bảng dữ liệu và nạp dữ liệu mẫu thử nghiệm (db:seed) tự động.</a:t>
            </a:r>
          </a:p>
          <a:p>
            <a:pPr lvl="1">
              <a:spcAft>
                <a:spcPts val="800"/>
              </a:spcAft>
              <a:defRPr sz="1600">
                <a:solidFill>
                  <a:srgbClr val="212529"/>
                </a:solidFill>
                <a:latin typeface="Arial"/>
              </a:defRPr>
            </a:pPr>
            <a:r>
              <a:t>   • Dọn dẹp &amp; Phân quyền: Tạo storage link hiển thị ảnh đại diện, xóa sạch cache cấu hình cũ và phân quyền cho www-data.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A"/>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0066CC"/>
                </a:solidFill>
                <a:latin typeface="Arial"/>
              </a:defRPr>
            </a:pPr>
            <a:r>
              <a:t>🚀 QUY TRÌNH 3 BƯỚC KHỞI CHẠY HỆ THỐNG TRONG DEV MÔI TRƯỜNG</a:t>
            </a:r>
          </a:p>
        </p:txBody>
      </p:sp>
      <p:sp>
        <p:nvSpPr>
          <p:cNvPr id="3" name="Content Placeholder 2"/>
          <p:cNvSpPr>
            <a:spLocks noGrp="1"/>
          </p:cNvSpPr>
          <p:nvPr>
            <p:ph idx="1"/>
          </p:nvPr>
        </p:nvSpPr>
        <p:spPr/>
        <p:txBody>
          <a:bodyPr/>
          <a:lstStyle/>
          <a:p/>
          <a:p>
            <a:pPr>
              <a:spcAft>
                <a:spcPts val="800"/>
              </a:spcAft>
              <a:defRPr b="1" sz="1800">
                <a:solidFill>
                  <a:srgbClr val="212529"/>
                </a:solidFill>
                <a:latin typeface="Arial"/>
              </a:defRPr>
            </a:pPr>
            <a:r>
              <a:t>Bước 1: Giải phóng tài nguyên cổng trên máy thật (Preparation):</a:t>
            </a:r>
          </a:p>
          <a:p>
            <a:pPr lvl="1">
              <a:spcAft>
                <a:spcPts val="800"/>
              </a:spcAft>
              <a:defRPr sz="1600">
                <a:solidFill>
                  <a:srgbClr val="212529"/>
                </a:solidFill>
                <a:latin typeface="Arial"/>
              </a:defRPr>
            </a:pPr>
            <a:r>
              <a:t>   • Dừng hoàn toàn các phần mềm local đang chiếm dụng cổng như XAMPP (Apache, MySQL) hoặc Postgres local máy thật.</a:t>
            </a:r>
          </a:p>
          <a:p>
            <a:pPr>
              <a:spcAft>
                <a:spcPts val="800"/>
              </a:spcAft>
              <a:defRPr b="1" sz="1800">
                <a:solidFill>
                  <a:srgbClr val="212529"/>
                </a:solidFill>
                <a:latin typeface="Arial"/>
              </a:defRPr>
            </a:pPr>
            <a:r>
              <a:t>Bước 2: Khởi động đóng gói và dựng hệ thống tự động (Build &amp; Start):</a:t>
            </a:r>
          </a:p>
          <a:p>
            <a:pPr lvl="1">
              <a:spcAft>
                <a:spcPts val="800"/>
              </a:spcAft>
              <a:defRPr sz="1600">
                <a:solidFill>
                  <a:srgbClr val="212529"/>
                </a:solidFill>
                <a:latin typeface="Arial"/>
              </a:defRPr>
            </a:pPr>
            <a:r>
              <a:t>   • Mở terminal tại thư mục gốc của dự án và chạy câu lệnh duy nhất:</a:t>
            </a:r>
          </a:p>
          <a:p>
            <a:pPr lvl="2">
              <a:spcAft>
                <a:spcPts val="800"/>
              </a:spcAft>
              <a:defRPr sz="1400" b="1">
                <a:solidFill>
                  <a:srgbClr val="0066CC"/>
                </a:solidFill>
                <a:latin typeface="Courier New"/>
              </a:defRPr>
            </a:pPr>
            <a:r>
              <a:t>     &gt;&gt;&gt; docker-compose up -d --build</a:t>
            </a:r>
          </a:p>
          <a:p>
            <a:pPr lvl="1">
              <a:spcAft>
                <a:spcPts val="800"/>
              </a:spcAft>
              <a:defRPr sz="1600">
                <a:solidFill>
                  <a:srgbClr val="212529"/>
                </a:solidFill>
                <a:latin typeface="Arial"/>
              </a:defRPr>
            </a:pPr>
            <a:r>
              <a:t>   • Docker Compose tự xây dựng Image, cấu hình mạng bridge ảo và khởi chạy 4 container độc lập.</a:t>
            </a:r>
          </a:p>
          <a:p>
            <a:pPr>
              <a:spcAft>
                <a:spcPts val="800"/>
              </a:spcAft>
              <a:defRPr b="1" sz="1800">
                <a:solidFill>
                  <a:srgbClr val="212529"/>
                </a:solidFill>
                <a:latin typeface="Arial"/>
              </a:defRPr>
            </a:pPr>
            <a:r>
              <a:t>Bước 3: Truy cập và kiểm thử tính năng thời gian thực (Test &amp; Experience):</a:t>
            </a:r>
          </a:p>
          <a:p>
            <a:pPr lvl="1">
              <a:spcAft>
                <a:spcPts val="800"/>
              </a:spcAft>
              <a:defRPr sz="1600">
                <a:solidFill>
                  <a:srgbClr val="212529"/>
                </a:solidFill>
                <a:latin typeface="Arial"/>
              </a:defRPr>
            </a:pPr>
            <a:r>
              <a:t>   • Mở trình duyệt Web truy cập: http://localhost:8000</a:t>
            </a:r>
          </a:p>
          <a:p>
            <a:pPr lvl="1">
              <a:spcAft>
                <a:spcPts val="800"/>
              </a:spcAft>
              <a:defRPr sz="1600">
                <a:solidFill>
                  <a:srgbClr val="212529"/>
                </a:solidFill>
                <a:latin typeface="Arial"/>
              </a:defRPr>
            </a:pPr>
            <a:r>
              <a:t>   • Đăng nhập 2 tài khoản demo (1 tab thường, 1 tab ẩn danh) để kiểm thử đồng bộ ghi chú real-time qua WebSocket:</a:t>
            </a:r>
          </a:p>
          <a:p>
            <a:pPr lvl="2">
              <a:spcAft>
                <a:spcPts val="800"/>
              </a:spcAft>
              <a:defRPr sz="1400">
                <a:solidFill>
                  <a:srgbClr val="6C757D"/>
                </a:solidFill>
                <a:latin typeface="Arial"/>
              </a:defRPr>
            </a:pPr>
            <a:r>
              <a:t>     - Trình duyệt 1: demo@example.com / mật khẩu: 123456</a:t>
            </a:r>
          </a:p>
          <a:p>
            <a:pPr lvl="2">
              <a:spcAft>
                <a:spcPts val="800"/>
              </a:spcAft>
              <a:defRPr sz="1400">
                <a:solidFill>
                  <a:srgbClr val="6C757D"/>
                </a:solidFill>
                <a:latin typeface="Arial"/>
              </a:defRPr>
            </a:pPr>
            <a:r>
              <a:t>     - Trình duyệt 2: demo2@example.com / mật khẩu: 123456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A"/>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0066CC"/>
                </a:solidFill>
                <a:latin typeface="Arial"/>
              </a:defRPr>
            </a:pPr>
            <a:r>
              <a:t>⚖️ ĐỐI CHIẾU THỰC NGHIỆM: DOCKER VS XAMPP TRUYỀN THỐNG</a:t>
            </a:r>
          </a:p>
        </p:txBody>
      </p:sp>
      <p:sp>
        <p:nvSpPr>
          <p:cNvPr id="3" name="Content Placeholder 2"/>
          <p:cNvSpPr>
            <a:spLocks noGrp="1"/>
          </p:cNvSpPr>
          <p:nvPr>
            <p:ph idx="1"/>
          </p:nvPr>
        </p:nvSpPr>
        <p:spPr/>
        <p:txBody>
          <a:bodyPr/>
          <a:lstStyle/>
          <a:p/>
          <a:p>
            <a:pPr>
              <a:spcAft>
                <a:spcPts val="800"/>
              </a:spcAft>
              <a:defRPr b="1" sz="1800">
                <a:solidFill>
                  <a:srgbClr val="212529"/>
                </a:solidFill>
                <a:latin typeface="Arial"/>
              </a:defRPr>
            </a:pPr>
            <a:r>
              <a:t>Tính nhất quán môi trường phát triển (Environment Consistency):</a:t>
            </a:r>
          </a:p>
          <a:p>
            <a:pPr lvl="1">
              <a:spcAft>
                <a:spcPts val="800"/>
              </a:spcAft>
              <a:defRPr sz="1600">
                <a:solidFill>
                  <a:srgbClr val="212529"/>
                </a:solidFill>
                <a:latin typeface="Arial"/>
              </a:defRPr>
            </a:pPr>
            <a:r>
              <a:t>   • XAMPP: Rất dễ bị lỗi do khác biệt phiên bản PHP và extensions giữa máy các thành viên.</a:t>
            </a:r>
          </a:p>
          <a:p>
            <a:pPr lvl="1">
              <a:spcAft>
                <a:spcPts val="800"/>
              </a:spcAft>
              <a:defRPr sz="1600">
                <a:solidFill>
                  <a:srgbClr val="212529"/>
                </a:solidFill>
                <a:latin typeface="Arial"/>
              </a:defRPr>
            </a:pPr>
            <a:r>
              <a:t>   • Docker: Đồng bộ 100% môi trường PHP 8.2 trên tất cả máy tính, triệt tiêu lỗi khác biệt OS.</a:t>
            </a:r>
          </a:p>
          <a:p>
            <a:pPr>
              <a:spcAft>
                <a:spcPts val="800"/>
              </a:spcAft>
              <a:defRPr b="1" sz="1800">
                <a:solidFill>
                  <a:srgbClr val="212529"/>
                </a:solidFill>
                <a:latin typeface="Arial"/>
              </a:defRPr>
            </a:pPr>
            <a:r>
              <a:t>Độ phức tạp mở rộng dịch vụ (Scalability &amp; Integrations):</a:t>
            </a:r>
          </a:p>
          <a:p>
            <a:pPr lvl="1">
              <a:spcAft>
                <a:spcPts val="800"/>
              </a:spcAft>
              <a:defRPr sz="1600">
                <a:solidFill>
                  <a:srgbClr val="212529"/>
                </a:solidFill>
                <a:latin typeface="Arial"/>
              </a:defRPr>
            </a:pPr>
            <a:r>
              <a:t>   • XAMPP: Cực kỳ khó khăn và dễ gây xung đột khi cài đặt PostgreSQL, Redis cache hay WebSocket trên Windows.</a:t>
            </a:r>
          </a:p>
          <a:p>
            <a:pPr lvl="1">
              <a:spcAft>
                <a:spcPts val="800"/>
              </a:spcAft>
              <a:defRPr sz="1600">
                <a:solidFill>
                  <a:srgbClr val="212529"/>
                </a:solidFill>
                <a:latin typeface="Arial"/>
              </a:defRPr>
            </a:pPr>
            <a:r>
              <a:t>   • Docker: Dễ dàng mở rộng chỉ bằng cách khai báo dịch vụ trong file docker-compose.yml.</a:t>
            </a:r>
          </a:p>
          <a:p>
            <a:pPr>
              <a:spcAft>
                <a:spcPts val="800"/>
              </a:spcAft>
              <a:defRPr b="1" sz="1800">
                <a:solidFill>
                  <a:srgbClr val="212529"/>
                </a:solidFill>
                <a:latin typeface="Arial"/>
              </a:defRPr>
            </a:pPr>
            <a:r>
              <a:t>Khả năng triển khai lên Đám mây (Cloud Deployment):</a:t>
            </a:r>
          </a:p>
          <a:p>
            <a:pPr lvl="1">
              <a:spcAft>
                <a:spcPts val="800"/>
              </a:spcAft>
              <a:defRPr sz="1600">
                <a:solidFill>
                  <a:srgbClr val="212529"/>
                </a:solidFill>
                <a:latin typeface="Arial"/>
              </a:defRPr>
            </a:pPr>
            <a:r>
              <a:t>   • XAMPP: Phải thuê VPS cài đặt môi trường thủ công rất lâu và dễ sai sót cấu hình.</a:t>
            </a:r>
          </a:p>
          <a:p>
            <a:pPr lvl="1">
              <a:spcAft>
                <a:spcPts val="800"/>
              </a:spcAft>
              <a:defRPr sz="1600">
                <a:solidFill>
                  <a:srgbClr val="212529"/>
                </a:solidFill>
                <a:latin typeface="Arial"/>
              </a:defRPr>
            </a:pPr>
            <a:r>
              <a:t>   • Docker: Hỗ trợ triển khai tự động 1-click lên các cloud platform hiện đại như Railway, AWS, Heroku.</a:t>
            </a:r>
          </a:p>
          <a:p>
            <a:pPr>
              <a:spcAft>
                <a:spcPts val="800"/>
              </a:spcAft>
              <a:defRPr b="1" sz="1800">
                <a:solidFill>
                  <a:srgbClr val="212529"/>
                </a:solidFill>
                <a:latin typeface="Arial"/>
              </a:defRPr>
            </a:pPr>
            <a:r>
              <a:t>Độ sạch của hệ điều hành (System cleanliness):</a:t>
            </a:r>
          </a:p>
          <a:p>
            <a:pPr lvl="1">
              <a:spcAft>
                <a:spcPts val="800"/>
              </a:spcAft>
              <a:defRPr sz="1600">
                <a:solidFill>
                  <a:srgbClr val="212529"/>
                </a:solidFill>
                <a:latin typeface="Arial"/>
              </a:defRPr>
            </a:pPr>
            <a:r>
              <a:t>   • XAMPP: Cài trực tiếp ứng dụng tạo tệp rác hệ thống.</a:t>
            </a:r>
          </a:p>
          <a:p>
            <a:pPr lvl="1">
              <a:spcAft>
                <a:spcPts val="800"/>
              </a:spcAft>
              <a:defRPr sz="1600">
                <a:solidFill>
                  <a:srgbClr val="212529"/>
                </a:solidFill>
                <a:latin typeface="Arial"/>
              </a:defRPr>
            </a:pPr>
            <a:r>
              <a:t>   • Docker: Cô lập hoàn toàn, dọn dẹp sạch sẽ 100% tài nguyên đĩa sau khi dùng lệnh docker-compose down.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A"/>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0066CC"/>
                </a:solidFill>
                <a:latin typeface="Arial"/>
              </a:defRPr>
            </a:pPr>
            <a:r>
              <a:t>🗄️ QUẢN TRỊ CSDL POSTGRESQL QUA DOCKER BASH CLI</a:t>
            </a:r>
          </a:p>
        </p:txBody>
      </p:sp>
      <p:sp>
        <p:nvSpPr>
          <p:cNvPr id="3" name="Content Placeholder 2"/>
          <p:cNvSpPr>
            <a:spLocks noGrp="1"/>
          </p:cNvSpPr>
          <p:nvPr>
            <p:ph idx="1"/>
          </p:nvPr>
        </p:nvSpPr>
        <p:spPr/>
        <p:txBody>
          <a:bodyPr/>
          <a:lstStyle/>
          <a:p/>
          <a:p>
            <a:pPr>
              <a:spcAft>
                <a:spcPts val="800"/>
              </a:spcAft>
              <a:defRPr b="1" sz="1800">
                <a:solidFill>
                  <a:srgbClr val="212529"/>
                </a:solidFill>
                <a:latin typeface="Arial"/>
              </a:defRPr>
            </a:pPr>
            <a:r>
              <a:t>Truy cập dòng lệnh trực tiếp (CLI access):</a:t>
            </a:r>
          </a:p>
          <a:p>
            <a:pPr lvl="1">
              <a:spcAft>
                <a:spcPts val="800"/>
              </a:spcAft>
              <a:defRPr sz="1600">
                <a:solidFill>
                  <a:srgbClr val="212529"/>
                </a:solidFill>
                <a:latin typeface="Arial"/>
              </a:defRPr>
            </a:pPr>
            <a:r>
              <a:t>   • Chạy lệnh sau trên terminal của máy thật để truy cập Postgres container:</a:t>
            </a:r>
          </a:p>
          <a:p>
            <a:pPr lvl="2">
              <a:spcAft>
                <a:spcPts val="800"/>
              </a:spcAft>
              <a:defRPr sz="1400" b="1">
                <a:solidFill>
                  <a:srgbClr val="0066CC"/>
                </a:solidFill>
                <a:latin typeface="Courier New"/>
              </a:defRPr>
            </a:pPr>
            <a:r>
              <a:t>     &gt;&gt;&gt; docker exec -it note_app_db psql -U admin -d note_db</a:t>
            </a:r>
          </a:p>
          <a:p>
            <a:pPr>
              <a:spcAft>
                <a:spcPts val="800"/>
              </a:spcAft>
              <a:defRPr b="1" sz="1800">
                <a:solidFill>
                  <a:srgbClr val="212529"/>
                </a:solidFill>
                <a:latin typeface="Arial"/>
              </a:defRPr>
            </a:pPr>
            <a:r>
              <a:t>Khảo sát cấu trúc cơ sở dữ liệu (psql meta-commands):</a:t>
            </a:r>
          </a:p>
          <a:p>
            <a:pPr lvl="1">
              <a:spcAft>
                <a:spcPts val="800"/>
              </a:spcAft>
              <a:defRPr sz="1600">
                <a:solidFill>
                  <a:srgbClr val="212529"/>
                </a:solidFill>
                <a:latin typeface="Arial"/>
              </a:defRPr>
            </a:pPr>
            <a:r>
              <a:t>   • Lệnh \\l: Liệt kê toàn bộ các cơ sở dữ liệu trên máy chủ Postgres.</a:t>
            </a:r>
          </a:p>
          <a:p>
            <a:pPr lvl="1">
              <a:spcAft>
                <a:spcPts val="800"/>
              </a:spcAft>
              <a:defRPr sz="1600">
                <a:solidFill>
                  <a:srgbClr val="212529"/>
                </a:solidFill>
                <a:latin typeface="Arial"/>
              </a:defRPr>
            </a:pPr>
            <a:r>
              <a:t>   • Lệnh \\dt: Hiển thị tất cả các bảng dữ liệu hiện có trong CSDL note_db.</a:t>
            </a:r>
          </a:p>
          <a:p>
            <a:pPr lvl="1">
              <a:spcAft>
                <a:spcPts val="800"/>
              </a:spcAft>
              <a:defRPr sz="1600">
                <a:solidFill>
                  <a:srgbClr val="212529"/>
                </a:solidFill>
                <a:latin typeface="Arial"/>
              </a:defRPr>
            </a:pPr>
            <a:r>
              <a:t>   • Lệnh \\d notes: Xem chi tiết lược đồ thuộc tính của bảng ghi chú.</a:t>
            </a:r>
          </a:p>
          <a:p>
            <a:pPr>
              <a:spcAft>
                <a:spcPts val="800"/>
              </a:spcAft>
              <a:defRPr b="1" sz="1800">
                <a:solidFill>
                  <a:srgbClr val="212529"/>
                </a:solidFill>
                <a:latin typeface="Arial"/>
              </a:defRPr>
            </a:pPr>
            <a:r>
              <a:t>Truy vấn và thao tác dữ liệu chuẩn SQL (CRUD operations):</a:t>
            </a:r>
          </a:p>
          <a:p>
            <a:pPr lvl="1">
              <a:spcAft>
                <a:spcPts val="800"/>
              </a:spcAft>
              <a:defRPr sz="1600">
                <a:solidFill>
                  <a:srgbClr val="212529"/>
                </a:solidFill>
                <a:latin typeface="Arial"/>
              </a:defRPr>
            </a:pPr>
            <a:r>
              <a:t>   • SELECT thành viên đăng ký, INSERT nhãn dán, UPDATE màu nền, DELETE ghi chú lỗi.</a:t>
            </a:r>
          </a:p>
          <a:p>
            <a:pPr>
              <a:spcAft>
                <a:spcPts val="800"/>
              </a:spcAft>
              <a:defRPr b="1" sz="1800">
                <a:solidFill>
                  <a:srgbClr val="212529"/>
                </a:solidFill>
                <a:latin typeface="Arial"/>
              </a:defRPr>
            </a:pPr>
            <a:r>
              <a:t>Tự động hóa chạy lệnh một dòng từ máy thật (One-liner utility):</a:t>
            </a:r>
          </a:p>
          <a:p>
            <a:pPr lvl="1">
              <a:spcAft>
                <a:spcPts val="800"/>
              </a:spcAft>
              <a:defRPr sz="1600">
                <a:solidFill>
                  <a:srgbClr val="212529"/>
                </a:solidFill>
                <a:latin typeface="Arial"/>
              </a:defRPr>
            </a:pPr>
            <a:r>
              <a:t>   • Sử dụng cờ -c để thực thi nhanh SQL trực tiếp không cần chui vào shell:</a:t>
            </a:r>
          </a:p>
          <a:p>
            <a:pPr lvl="2">
              <a:spcAft>
                <a:spcPts val="800"/>
              </a:spcAft>
              <a:defRPr sz="1400" b="1">
                <a:solidFill>
                  <a:srgbClr val="0066CC"/>
                </a:solidFill>
                <a:latin typeface="Courier New"/>
              </a:defRPr>
            </a:pPr>
            <a:r>
              <a:t>     &gt;&gt;&gt; docker exec -it note_app_db psql -U admin -d note_db -c "SELECT COUNT(*) FROM notes;"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A"/>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0066CC"/>
                </a:solidFill>
                <a:latin typeface="Arial"/>
              </a:defRPr>
            </a:pPr>
            <a:r>
              <a:t>📚 TÀI LIỆU THAM KHẢO &amp; TRÍCH DẪN KHOA HỌC (IEEE)</a:t>
            </a:r>
          </a:p>
        </p:txBody>
      </p:sp>
      <p:sp>
        <p:nvSpPr>
          <p:cNvPr id="3" name="Content Placeholder 2"/>
          <p:cNvSpPr>
            <a:spLocks noGrp="1"/>
          </p:cNvSpPr>
          <p:nvPr>
            <p:ph idx="1"/>
          </p:nvPr>
        </p:nvSpPr>
        <p:spPr/>
        <p:txBody>
          <a:bodyPr/>
          <a:lstStyle/>
          <a:p/>
          <a:p>
            <a:pPr>
              <a:spcAft>
                <a:spcPts val="800"/>
              </a:spcAft>
              <a:defRPr b="1" sz="1800">
                <a:solidFill>
                  <a:srgbClr val="212529"/>
                </a:solidFill>
                <a:latin typeface="Arial"/>
              </a:defRPr>
            </a:pPr>
            <a:r>
              <a:t>Tài liệu về Công nghệ Containerization &amp; Orchestration:</a:t>
            </a:r>
          </a:p>
          <a:p>
            <a:pPr lvl="1">
              <a:spcAft>
                <a:spcPts val="800"/>
              </a:spcAft>
              <a:defRPr sz="1600">
                <a:solidFill>
                  <a:srgbClr val="212529"/>
                </a:solidFill>
                <a:latin typeface="Arial"/>
              </a:defRPr>
            </a:pPr>
            <a:r>
              <a:t>   • [1] D. Merkel, 'Docker: lightweight Linux containers for consistent development,' Linux Journal, 2014.</a:t>
            </a:r>
          </a:p>
          <a:p>
            <a:pPr lvl="1">
              <a:spcAft>
                <a:spcPts val="800"/>
              </a:spcAft>
              <a:defRPr sz="1600">
                <a:solidFill>
                  <a:srgbClr val="212529"/>
                </a:solidFill>
                <a:latin typeface="Arial"/>
              </a:defRPr>
            </a:pPr>
            <a:r>
              <a:t>   • [2] C. Pahl, 'Containerization and the PaaS Cloud,' IEEE Cloud Computing, vol. 2, no. 3, 2015.</a:t>
            </a:r>
          </a:p>
          <a:p>
            <a:pPr lvl="1">
              <a:spcAft>
                <a:spcPts val="800"/>
              </a:spcAft>
              <a:defRPr sz="1600">
                <a:solidFill>
                  <a:srgbClr val="212529"/>
                </a:solidFill>
                <a:latin typeface="Arial"/>
              </a:defRPr>
            </a:pPr>
            <a:r>
              <a:t>   • [3] K. Joy, 'Performance Comparison of VMs and OS-level Containers,' IJCA, vol. 122, no. 18, 2015.</a:t>
            </a:r>
          </a:p>
          <a:p>
            <a:pPr>
              <a:spcAft>
                <a:spcPts val="800"/>
              </a:spcAft>
              <a:defRPr b="1" sz="1800">
                <a:solidFill>
                  <a:srgbClr val="212529"/>
                </a:solidFill>
                <a:latin typeface="Arial"/>
              </a:defRPr>
            </a:pPr>
            <a:r>
              <a:t>Tài liệu về Cơ sở dữ liệu PostgreSQL &amp; RAM-Cache Redis:</a:t>
            </a:r>
          </a:p>
          <a:p>
            <a:pPr lvl="1">
              <a:spcAft>
                <a:spcPts val="800"/>
              </a:spcAft>
              <a:defRPr sz="1600">
                <a:solidFill>
                  <a:srgbClr val="212529"/>
                </a:solidFill>
                <a:latin typeface="Arial"/>
              </a:defRPr>
            </a:pPr>
            <a:r>
              <a:t>   • [4] B. Momjian, PostgreSQL: Introduction and Concepts. Addison-Wesley, 2001.</a:t>
            </a:r>
          </a:p>
          <a:p>
            <a:pPr lvl="1">
              <a:spcAft>
                <a:spcPts val="800"/>
              </a:spcAft>
              <a:defRPr sz="1600">
                <a:solidFill>
                  <a:srgbClr val="212529"/>
                </a:solidFill>
                <a:latin typeface="Arial"/>
              </a:defRPr>
            </a:pPr>
            <a:r>
              <a:t>   • [5] M. Stonebraker &amp; L. Rowe, 'The design of Postgres,' Proc. 1986 ACM SIGMOD, pp. 340-355.</a:t>
            </a:r>
          </a:p>
          <a:p>
            <a:pPr lvl="1">
              <a:spcAft>
                <a:spcPts val="800"/>
              </a:spcAft>
              <a:defRPr sz="1600">
                <a:solidFill>
                  <a:srgbClr val="212529"/>
                </a:solidFill>
                <a:latin typeface="Arial"/>
              </a:defRPr>
            </a:pPr>
            <a:r>
              <a:t>   • [6] S. de Souza, et al., 'Performance Analysis of Postgres and MySQL under Concurrent Load,' IEEE Latin America, 2020.</a:t>
            </a:r>
          </a:p>
          <a:p>
            <a:pPr lvl="1">
              <a:spcAft>
                <a:spcPts val="800"/>
              </a:spcAft>
              <a:defRPr sz="1600">
                <a:solidFill>
                  <a:srgbClr val="212529"/>
                </a:solidFill>
                <a:latin typeface="Arial"/>
              </a:defRPr>
            </a:pPr>
            <a:r>
              <a:t>   • [7] J. Gaunt &amp; B. Lawson, Introducing Redis: In-Memory Data Storage and Performance, O'Reilly Media, 2016.</a:t>
            </a:r>
          </a:p>
          <a:p>
            <a:pPr>
              <a:spcAft>
                <a:spcPts val="800"/>
              </a:spcAft>
              <a:defRPr b="1" sz="1800">
                <a:solidFill>
                  <a:srgbClr val="212529"/>
                </a:solidFill>
                <a:latin typeface="Arial"/>
              </a:defRPr>
            </a:pPr>
            <a:r>
              <a:t>Tài liệu về Giao thức thời gian thực WebSocket &amp; Kiến trúc PWA:</a:t>
            </a:r>
          </a:p>
          <a:p>
            <a:pPr lvl="1">
              <a:spcAft>
                <a:spcPts val="800"/>
              </a:spcAft>
              <a:defRPr sz="1600">
                <a:solidFill>
                  <a:srgbClr val="212529"/>
                </a:solidFill>
                <a:latin typeface="Arial"/>
              </a:defRPr>
            </a:pPr>
            <a:r>
              <a:t>   • [8] I. Fette &amp; A. Melnikov, 'The WebSocket Protocol,' RFC 6455, IETF, Dec. 2011.</a:t>
            </a:r>
          </a:p>
          <a:p>
            <a:pPr lvl="1">
              <a:spcAft>
                <a:spcPts val="800"/>
              </a:spcAft>
              <a:defRPr sz="1600">
                <a:solidFill>
                  <a:srgbClr val="212529"/>
                </a:solidFill>
                <a:latin typeface="Arial"/>
              </a:defRPr>
            </a:pPr>
            <a:r>
              <a:t>   • [9] A. Russell, 'Progressive Web Apps: escaping tabs without losing our soul,' Infrequently Coherent, 2015.</a:t>
            </a:r>
          </a:p>
          <a:p>
            <a:pPr lvl="1">
              <a:spcAft>
                <a:spcPts val="800"/>
              </a:spcAft>
              <a:defRPr sz="1600">
                <a:solidFill>
                  <a:srgbClr val="212529"/>
                </a:solidFill>
                <a:latin typeface="Arial"/>
              </a:defRPr>
            </a:pPr>
            <a:r>
              <a:t>   • [10] M. Gaunt, 'Service Workers in Production,' Google Developers Technical Reviews, Aug. 2016.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